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Neuro-Symbolic Automated Essay/Answer Grading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with Rule-Based Justification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Sahil Barnwal (24BDS0256) — extending Agrawal et al., ESWA 239 (2024)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Hand grading long answers is slow and inconsistent.</a:t>
            </a:r>
          </a:p>
          <a:p>
            <a:pPr lvl="0"/>
            <a:r>
              <a:rPr/>
              <a:t>The parent paper (Agrawal et al., 2024) grades well but fuses its three NLP modules with a </a:t>
            </a:r>
            <a:r>
              <a:rPr b="1"/>
              <a:t>black-box DNN</a:t>
            </a:r>
            <a:r>
              <a:rPr/>
              <a:t>.</a:t>
            </a:r>
          </a:p>
          <a:p>
            <a:pPr lvl="0"/>
            <a:r>
              <a:rPr/>
              <a:t>The mark has no trace back to the evidence.</a:t>
            </a:r>
          </a:p>
          <a:p>
            <a:pPr lvl="0"/>
            <a:r>
              <a:rPr/>
              <a:t>When a student contests a grade, there is nothing auditable to show.</a:t>
            </a:r>
          </a:p>
          <a:p>
            <a:pPr lvl="0"/>
            <a:r>
              <a:rPr/>
              <a:t>A mark we cannot defend is not usable.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Keep the parent paper’s three modules as the </a:t>
            </a:r>
            <a:r>
              <a:rPr b="1"/>
              <a:t>evidence</a:t>
            </a:r>
            <a:r>
              <a:rPr/>
              <a:t>.</a:t>
            </a:r>
          </a:p>
          <a:p>
            <a:pPr lvl="0"/>
            <a:r>
              <a:rPr/>
              <a:t>Replace the opaque DNN with a </a:t>
            </a:r>
            <a:r>
              <a:rPr b="1"/>
              <a:t>fuzzy IF-THEN rule base</a:t>
            </a:r>
            <a:r>
              <a:rPr/>
              <a:t>.</a:t>
            </a:r>
          </a:p>
          <a:p>
            <a:pPr lvl="0"/>
            <a:r>
              <a:rPr/>
              <a:t>The rule base </a:t>
            </a:r>
            <a:r>
              <a:rPr i="1"/>
              <a:t>is</a:t>
            </a:r>
            <a:r>
              <a:rPr/>
              <a:t> the justification — the rules that fired </a:t>
            </a:r>
            <a:r>
              <a:rPr i="1"/>
              <a:t>are</a:t>
            </a:r>
            <a:r>
              <a:rPr/>
              <a:t> the explanation.</a:t>
            </a:r>
          </a:p>
          <a:p>
            <a:pPr lvl="0"/>
            <a:r>
              <a:rPr/>
              <a:t>Neural part = offline sentence embeddings (a sensor, not the judge).</a:t>
            </a:r>
          </a:p>
          <a:p>
            <a:pPr lvl="0"/>
            <a:r>
              <a:rPr/>
              <a:t>Output: a grade </a:t>
            </a:r>
            <a:r>
              <a:rPr b="1"/>
              <a:t>plus</a:t>
            </a:r>
            <a:r>
              <a:rPr/>
              <a:t> the rules and evidence behind it.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Extends the Parent Paper, Point for Point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Parent paper (ESWA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This project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Keyword: YAKE + KeyBERT + WordNet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Reused (symbolic)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Similarity: SBERT / SimCSE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Reused (neural, offline)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NER: spaCy / CamemBERT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Reused (symbolic)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Fuse 3 scores with 4-layer DNN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Fuzzy rule base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Output: one number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Output: number + scorecard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Evaluation: RMSE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 QWK, Pearson, stability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Architecture</a:t>
            </a:r>
          </a:p>
        </p:txBody>
      </p:sp>
      <p:pic>
        <p:nvPicPr>
          <p:cNvPr descr="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03500" y="1193800"/>
            <a:ext cx="3937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1 -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Public </a:t>
            </a:r>
            <a:r>
              <a:rPr b="1"/>
              <a:t>Mohler (2011) UNT CS short-answer</a:t>
            </a:r>
            <a:r>
              <a:rPr/>
              <a:t> corpus.</a:t>
            </a:r>
          </a:p>
          <a:p>
            <a:pPr lvl="0"/>
            <a:r>
              <a:rPr/>
              <a:t>2,273 student answers, 79 questions, reference answer each.</a:t>
            </a:r>
          </a:p>
          <a:p>
            <a:pPr lvl="0"/>
            <a:r>
              <a:rPr/>
              <a:t>Human grades 0-5 (two annotators), rescaled to 0-100.</a:t>
            </a:r>
          </a:p>
          <a:p>
            <a:pPr lvl="0"/>
            <a:r>
              <a:rPr/>
              <a:t>Matches the parent paper’s computer-science domain.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2 - Symbolic Pathway (reused modules)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Keyword:</a:t>
            </a:r>
            <a:r>
              <a:rPr/>
              <a:t> YAKE + KeyBERT on the reference, WordNet synonym expansion, coverage of reference keywords.</a:t>
            </a:r>
          </a:p>
          <a:p>
            <a:pPr lvl="0"/>
            <a:r>
              <a:rPr b="1"/>
              <a:t>NER:</a:t>
            </a:r>
            <a:r>
              <a:rPr/>
              <a:t> spaCy entities + numbers/big-O, Jaccard overlap.</a:t>
            </a:r>
          </a:p>
          <a:p>
            <a:pPr lvl="0"/>
            <a:r>
              <a:rPr b="1"/>
              <a:t>Mechanics:</a:t>
            </a:r>
            <a:r>
              <a:rPr/>
              <a:t> length adequacy, grammar errors, syntactic depth (advisory penalty only — the axis the parent paper lacked).</a:t>
            </a:r>
          </a:p>
          <a:p>
            <a:pPr lvl="0"/>
            <a:r>
              <a:rPr/>
              <a:t>Every metric normalised to 0-100, fully reproducible.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3 - Neural Pathway (offline)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Sentence-BERT (</a:t>
            </a:r>
            <a:r>
              <a:rPr>
                <a:latin typeface="Courier"/>
              </a:rPr>
              <a:t>all-MiniLM-L6-v2</a:t>
            </a:r>
            <a:r>
              <a:rPr/>
              <a:t>), runs locally — no API.</a:t>
            </a:r>
          </a:p>
          <a:p>
            <a:pPr lvl="0"/>
            <a:r>
              <a:rPr/>
              <a:t>Encodes student and reference, cosine similarity.</a:t>
            </a:r>
          </a:p>
          <a:p>
            <a:pPr lvl="0"/>
            <a:r>
              <a:rPr/>
              <a:t>Per-sentence coverage against the reference (0.75 threshold).</a:t>
            </a:r>
          </a:p>
          <a:p>
            <a:pPr lvl="0"/>
            <a:r>
              <a:rPr/>
              <a:t>One deterministic number → nothing to hallucinate.</a:t>
            </a:r>
          </a:p>
          <a:p>
            <a:pPr lvl="0"/>
            <a:r>
              <a:rPr/>
              <a:t>This is the only neural component: a semantic </a:t>
            </a:r>
            <a:r>
              <a:rPr b="1"/>
              <a:t>sensor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4 - Fuzzy Engine: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Inputs: keyword, similarity, NER scores (the 3 parent modules).</a:t>
            </a:r>
          </a:p>
          <a:p>
            <a:pPr lvl="0"/>
            <a:r>
              <a:rPr/>
              <a:t>Output: final grade.</a:t>
            </a:r>
          </a:p>
          <a:p>
            <a:pPr lvl="0"/>
            <a:r>
              <a:rPr/>
              <a:t>Triangular / trapezoidal membership functions: Low, Medium, High.</a:t>
            </a:r>
          </a:p>
          <a:p>
            <a:pPr lvl="0"/>
            <a:r>
              <a:rPr/>
              <a:t>Each score gets a degree of membership in each set.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4 - Fuzzy Engine: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IF similarity High AND keyword High THEN Excellent.</a:t>
            </a:r>
          </a:p>
          <a:p>
            <a:pPr lvl="0"/>
            <a:r>
              <a:rPr/>
              <a:t>IF keyword High AND similarity Low THEN Average.</a:t>
            </a:r>
          </a:p>
          <a:p>
            <a:pPr lvl="1"/>
            <a:r>
              <a:rPr/>
              <a:t>the right terms, no real understanding</a:t>
            </a:r>
          </a:p>
          <a:p>
            <a:pPr lvl="0"/>
            <a:r>
              <a:rPr/>
              <a:t>IF similarity High AND keyword Low THEN Good.</a:t>
            </a:r>
          </a:p>
          <a:p>
            <a:pPr lvl="1"/>
            <a:r>
              <a:rPr/>
              <a:t>weak wording, strong ideas</a:t>
            </a:r>
          </a:p>
          <a:p>
            <a:pPr lvl="0"/>
            <a:r>
              <a:rPr/>
              <a:t>Mamdani inference, then centroid defuzzification.</a:t>
            </a:r>
          </a:p>
          <a:p>
            <a:pPr lvl="0"/>
            <a:r>
              <a:rPr/>
              <a:t>Strict / lenient policy = just a different rule set (no code change).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5 - Scorecard and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Streamlit page: paste both answers, press Grade.</a:t>
            </a:r>
          </a:p>
          <a:p>
            <a:pPr lvl="0"/>
            <a:r>
              <a:rPr/>
              <a:t>Show raw metrics: keyword coverage, cosine, entities, errors.</a:t>
            </a:r>
          </a:p>
          <a:p>
            <a:pPr lvl="0"/>
            <a:r>
              <a:rPr/>
              <a:t>Show the semantic score separately.</a:t>
            </a:r>
          </a:p>
          <a:p>
            <a:pPr lvl="0"/>
            <a:r>
              <a:rPr b="1"/>
              <a:t>List which rules fired and how strongly.</a:t>
            </a:r>
          </a:p>
          <a:p>
            <a:pPr lvl="0"/>
            <a:r>
              <a:rPr/>
              <a:t>Plot the membership functions and the aggregated output.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6 -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Compare system marks against human marks on all 2,273 answers.</a:t>
            </a:r>
          </a:p>
          <a:p>
            <a:pPr lvl="0"/>
            <a:r>
              <a:rPr/>
              <a:t>Metrics: Quadratic Weighted Kappa, Pearson, RMSE.</a:t>
            </a:r>
          </a:p>
          <a:p>
            <a:pPr lvl="0"/>
            <a:r>
              <a:rPr/>
              <a:t>Ablation: each module alone vs linear mean vs full fuzzy.</a:t>
            </a:r>
          </a:p>
          <a:p>
            <a:pPr lvl="0"/>
            <a:r>
              <a:rPr/>
              <a:t>Paraphrase test: does the grade stay stable?</a:t>
            </a:r>
          </a:p>
          <a:p>
            <a:pPr lvl="0"/>
            <a:r>
              <a:rPr/>
              <a:t>Padding test: does filler text raise the grade?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 — Fuzzy Combiner Wins on Agreement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Pearson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QWK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mean-baseline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similarity-only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mean-of-modules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full-fuzzy (lenient)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0.31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Best QWK of any configuration</a:t>
            </a:r>
            <a:r>
              <a:rPr/>
              <a:t> — beats every single module and the linear average.</a:t>
            </a:r>
          </a:p>
          <a:p>
            <a:pPr lvl="0"/>
            <a:r>
              <a:rPr/>
              <a:t>After one affine calibration: held-out RMSE </a:t>
            </a:r>
            <a:r>
              <a:rPr b="1"/>
              <a:t>19.9</a:t>
            </a:r>
            <a:r>
              <a:rPr/>
              <a:t> &lt; baseline 21.9.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 — Stability (what the DNN was never tested for)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Paraphrase:</a:t>
            </a:r>
            <a:r>
              <a:rPr/>
              <a:t> grade moves only </a:t>
            </a:r>
            <a:r>
              <a:rPr b="1"/>
              <a:t>0.72 pts</a:t>
            </a:r>
            <a:r>
              <a:rPr/>
              <a:t> on average.</a:t>
            </a:r>
          </a:p>
          <a:p>
            <a:pPr lvl="0"/>
            <a:r>
              <a:rPr b="1"/>
              <a:t>Padding:</a:t>
            </a:r>
            <a:r>
              <a:rPr/>
              <a:t> appending filler changes the grade by </a:t>
            </a:r>
            <a:r>
              <a:rPr b="1"/>
              <a:t>-1.1 pts</a:t>
            </a:r>
            <a:r>
              <a:rPr/>
              <a:t>.</a:t>
            </a:r>
          </a:p>
          <a:p>
            <a:pPr lvl="1"/>
            <a:r>
              <a:rPr/>
              <a:t>the system does </a:t>
            </a:r>
            <a:r>
              <a:rPr i="1"/>
              <a:t>not</a:t>
            </a:r>
            <a:r>
              <a:rPr/>
              <a:t> reward verbosity — resists length-gaming.</a:t>
            </a:r>
          </a:p>
          <a:p>
            <a:pPr lvl="0"/>
            <a:r>
              <a:rPr/>
              <a:t>Stability follows from the architecture: a centroid over a small rule base changes smoothly with its inputs.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 Stack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Parsing, POS, NER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Keywords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YAKE + KeyBERT + WordNet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judgement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Sentence-BERT (offline)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Fuzzy inference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from-scratch Mamdani (NumPy)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Interface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Streamlit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Plots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matplotlib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Is Neuro-Symbolic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Neural: the SBERT transformer handles meaning.</a:t>
            </a:r>
          </a:p>
          <a:p>
            <a:pPr lvl="0"/>
            <a:r>
              <a:rPr/>
              <a:t>Symbolic: keyword, NER and mechanics give checkable facts.</a:t>
            </a:r>
          </a:p>
          <a:p>
            <a:pPr lvl="0"/>
            <a:r>
              <a:rPr/>
              <a:t>Fuzzy rules make the actual decision.</a:t>
            </a:r>
          </a:p>
          <a:p>
            <a:pPr lvl="0"/>
            <a:r>
              <a:rPr/>
              <a:t>The neural model is a </a:t>
            </a:r>
            <a:r>
              <a:rPr b="1"/>
              <a:t>sensor, not the judge</a:t>
            </a:r>
            <a:r>
              <a:rPr/>
              <a:t>.</a:t>
            </a:r>
          </a:p>
          <a:p>
            <a:pPr lvl="0"/>
            <a:r>
              <a:rPr/>
              <a:t>A single weak/wrong input cannot move the mark on its own.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a Fuzzy Engine Instead of the DNN?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rule base is </a:t>
            </a:r>
            <a:r>
              <a:rPr b="1"/>
              <a:t>readable and editable</a:t>
            </a:r>
            <a:r>
              <a:rPr/>
              <a:t> by the examiner.</a:t>
            </a:r>
          </a:p>
          <a:p>
            <a:pPr lvl="0"/>
            <a:r>
              <a:rPr/>
              <a:t>It encodes </a:t>
            </a:r>
            <a:r>
              <a:rPr b="1"/>
              <a:t>non-linear policies</a:t>
            </a:r>
            <a:r>
              <a:rPr/>
              <a:t> a weighted sum cannot (e.g. right terms + no understanding → Average).</a:t>
            </a:r>
          </a:p>
          <a:p>
            <a:pPr lvl="0"/>
            <a:r>
              <a:rPr/>
              <a:t>Every rule’s firing strength is exposed → the explanation </a:t>
            </a:r>
            <a:r>
              <a:rPr b="1"/>
              <a:t>is</a:t>
            </a:r>
            <a:r>
              <a:rPr/>
              <a:t> the computation, not a story about it.</a:t>
            </a:r>
          </a:p>
          <a:p>
            <a:pPr lvl="0"/>
            <a:r>
              <a:rPr/>
              <a:t>No training, no black box, no hallucinated justification.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Streamlit demo, graded live during the review.</a:t>
            </a:r>
          </a:p>
          <a:p>
            <a:pPr lvl="0"/>
            <a:r>
              <a:rPr/>
              <a:t>Documented rule base the examiner can edit (strict / lenient).</a:t>
            </a:r>
          </a:p>
          <a:p>
            <a:pPr lvl="0"/>
            <a:r>
              <a:rPr/>
              <a:t>Benchmark: our system vs each module vs linear mean vs human.</a:t>
            </a:r>
          </a:p>
          <a:p>
            <a:pPr lvl="0"/>
            <a:r>
              <a:rPr/>
              <a:t>Full project report (17 pp) extending the parent paper, with real results and figures.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Neuro-Symbolic Automated Essay/Answer Grading</dc:title>
  <dc:creator>with Rule-Based Justification</dc:creator>
  <cp:keywords/>
  <dcterms:created xsi:type="dcterms:W3CDTF">2026-10-25T17:07:40Z</dcterms:created>
  <dcterms:modified xsi:type="dcterms:W3CDTF">2026-10-25T17:07:40Z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Sahil Barnwal (24BDS0256) — extending Agrawal et al., ESWA 239 (2024)</vt:lpwstr>
  </property>
</Properties>
</file>